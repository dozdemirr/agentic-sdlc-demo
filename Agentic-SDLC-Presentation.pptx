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repository demonstrates this pattern through application modernisation. The challenge is broader than writing code: teams need to understand an existing system, choose a credible direction, and protect current behaviour while making changes.</a:t>
            </a:r>
          </a:p>
          <a:p/>
          <a:p>
            <a:r>
              <a:t>Specialised agents support different parts of that work. Their outputs become inputs to the next stage, rather than isolated answers. The intended engineering outcome is a chain of reviewable evidence and bounded changes—not an assumption that generated work is correct. This is an operating model, not a product pitch or a promise of measured savings.</a:t>
            </a:r>
          </a:p>
          <a:p/>
          <a:p>
            <a:r>
              <a:t>Transition: Let's look at how the first six agents turn system understanding into a delivery backlog.</a:t>
            </a:r>
          </a:p>
          <a:p/>
          <a:p>
            <a:r>
              <a:t>Repository sources:</a:t>
            </a:r>
          </a:p>
          <a:p>
            <a:r>
              <a:t>/home/runner/work/agentic-sdlc-demo/agentic-sdlc-demo/AGENTIC-SDLC.md</a:t>
            </a:r>
          </a:p>
          <a:p>
            <a:r>
              <a:t>/home/runner/work/agentic-sdlc-demo/agentic-sdlc-demo/agentic-developer-guide.md</a:t>
            </a:r>
          </a:p>
          <a:p>
            <a:r>
              <a:t>/home/runner/work/agentic-sdlc-demo/agentic-sdlc-demo/README.md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agents have distinct responsibilities. Discovery establishes facts; documentation explains the current system. Domain analysis identifies which business capabilities and data belong together. Modernisation then proposes a future direction based on that evidence.</a:t>
            </a:r>
          </a:p>
          <a:p/>
          <a:p>
            <a:r>
              <a:t>Testing provides a safety net, while candidate slices translate the direction into manageable units of work. A slice is a bounded change with a clear definition of success and a way back if needed.</a:t>
            </a:r>
          </a:p>
          <a:p/>
          <a:p>
            <a:r>
              <a:t>Coordination happens through shared outputs and explicit handoffs. That does not mean every handoff must be unattended: the guidance supports invoking agents individually or using staged approval checkpoints. Unreviewed findings should not silently become accepted assumptions. Corrections can return the team to earlier analysis.</a:t>
            </a:r>
          </a:p>
          <a:p/>
          <a:p>
            <a:r>
              <a:t>Transition: A ranked backlog is not enough on its own; programme governance, security assessment, and controlled implementation complete the model.</a:t>
            </a:r>
          </a:p>
          <a:p/>
          <a:p>
            <a:r>
              <a:t>Repository sources:</a:t>
            </a:r>
          </a:p>
          <a:p>
            <a:r>
              <a:t>/home/runner/work/agentic-sdlc-demo/agentic-sdlc-demo/AGENTIC-SDLC.md</a:t>
            </a:r>
          </a:p>
          <a:p>
            <a:r>
              <a:t>/home/runner/work/agentic-sdlc-demo/agentic-sdlc-demo/06-candidate-slices-playbook.md</a:t>
            </a:r>
          </a:p>
          <a:p>
            <a:r>
              <a:t>/home/runner/work/agentic-sdlc-demo/agentic-sdlc-demo/agentic-developer-guide.md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Programme planning and security are supporting responsibilities, not simply steps seven and eight in a rigid sequence. They are used when needed to inform delivery.</a:t>
            </a:r>
          </a:p>
          <a:p/>
          <a:p>
            <a:r>
              <a:t>The programme agent proposes responsibilities, checkpoints, and risk controls. Its economic modelling contains assumptions for human scrutiny—not proven savings. The security agent provides evidence and prioritised findings; an assessment is not a guarantee that a system is secure.</a:t>
            </a:r>
          </a:p>
          <a:p/>
          <a:p>
            <a:r>
              <a:t>Implementation is deliberately bounded. The repository's supporting implementation guidance requires consistent planning inputs, validation, a viable rollback approach, and human review before merge. If inputs are missing or contradictory, implementation should stop rather than invent a decision.</a:t>
            </a:r>
          </a:p>
          <a:p/>
          <a:p>
            <a:r>
              <a:t>The division of responsibility is straightforward: agents prepare work and surface evidence; accountable people decide whether it is appropriate to proceed. The methodology guide uses the short references 07-intelligent-migration and 08-security for the supporting agents.</a:t>
            </a:r>
          </a:p>
          <a:p/>
          <a:p>
            <a:r>
              <a:t>Transition: The practical discussion is which review checkpoints your team needs, who owns them, and what evidence they require before allowing change to proceed.</a:t>
            </a:r>
          </a:p>
          <a:p/>
          <a:p>
            <a:r>
              <a:t>Repository sources:</a:t>
            </a:r>
          </a:p>
          <a:p>
            <a:r>
              <a:t>/home/runner/work/agentic-sdlc-demo/agentic-sdlc-demo/AGENTIC-SDLC.md</a:t>
            </a:r>
          </a:p>
          <a:p>
            <a:r>
              <a:t>/home/runner/work/agentic-sdlc-demo/agentic-sdlc-demo/prompt-guide.md</a:t>
            </a:r>
          </a:p>
          <a:p>
            <a:r>
              <a:t>/home/runner/work/agentic-sdlc-demo/agentic-sdlc-demo/.github/skills/intelligent-application-migration.skill.md</a:t>
            </a:r>
          </a:p>
          <a:p>
            <a:r>
              <a:t>/home/runner/work/agentic-sdlc-demo/agentic-sdlc-demo/.github/skills/incremental-refactoring.skill.md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6984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F82"/>
                </a:solidFill>
                <a:latin typeface="Aptos"/>
              </a:defRPr>
            </a:pPr>
            <a:r>
              <a:t>AGENTIC SDLC  /  OPERATING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09960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152D45"/>
                </a:solidFill>
                <a:latin typeface="Aptos"/>
              </a:defRPr>
            </a:pPr>
            <a:r>
              <a:t>Coordinate assistance. Retain accountability.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63040"/>
            <a:ext cx="1110996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526577"/>
                </a:solidFill>
                <a:latin typeface="Aptos"/>
              </a:defRPr>
            </a:pPr>
            <a:r>
              <a:t>An operating model for specialised AI assistance across the software development lifecycle—not a transfer of decision authority.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90488"/>
            <a:ext cx="10789920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26577"/>
                </a:solidFill>
                <a:latin typeface="Aptos"/>
              </a:defRPr>
            </a:pPr>
            <a:r>
              <a:t>Next: how six specialists turn system evidence into a delivery backlog.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190488"/>
            <a:ext cx="457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007F8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423160"/>
            <a:ext cx="548640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32888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007F82"/>
                </a:solidFill>
                <a:latin typeface="Aptos"/>
              </a:defRPr>
            </a:pPr>
            <a:r>
              <a:t>Understand before changing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16936"/>
            <a:ext cx="512064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84A"/>
                </a:solidFill>
                <a:latin typeface="Aptos"/>
              </a:defRPr>
            </a:pPr>
            <a:r>
              <a:t>Establish what exists, how it works,</a:t>
            </a:r>
          </a:p>
          <a:p>
            <a:pPr>
              <a:spcAft>
                <a:spcPts val="700"/>
              </a:spcAft>
              <a:defRPr sz="1700" b="0">
                <a:solidFill>
                  <a:srgbClr val="24384A"/>
                </a:solidFill>
                <a:latin typeface="Aptos"/>
              </a:defRPr>
            </a:pPr>
            <a:r>
              <a:t>and what remains uncertain.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423160"/>
            <a:ext cx="548640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532888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007F82"/>
                </a:solidFill>
                <a:latin typeface="Aptos"/>
              </a:defRPr>
            </a:pPr>
            <a:r>
              <a:t>Connect analysis to delivery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916936"/>
            <a:ext cx="512064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84A"/>
                </a:solidFill>
                <a:latin typeface="Aptos"/>
              </a:defRPr>
            </a:pPr>
            <a:r>
              <a:t>Carry evidence through architecture,</a:t>
            </a:r>
          </a:p>
          <a:p>
            <a:pPr>
              <a:spcAft>
                <a:spcPts val="700"/>
              </a:spcAft>
              <a:defRPr sz="1700" b="0">
                <a:solidFill>
                  <a:srgbClr val="24384A"/>
                </a:solidFill>
                <a:latin typeface="Aptos"/>
              </a:defRPr>
            </a:pPr>
            <a:r>
              <a:t>testing, and scoped implementation.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776472"/>
            <a:ext cx="548640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886200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007F82"/>
                </a:solidFill>
                <a:latin typeface="Aptos"/>
              </a:defRPr>
            </a:pPr>
            <a:r>
              <a:t>Make change reviewable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270248"/>
            <a:ext cx="512064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84A"/>
                </a:solidFill>
                <a:latin typeface="Aptos"/>
              </a:defRPr>
            </a:pPr>
            <a:r>
              <a:t>Define scope, acceptance criteria,</a:t>
            </a:r>
          </a:p>
          <a:p>
            <a:pPr>
              <a:spcAft>
                <a:spcPts val="700"/>
              </a:spcAft>
              <a:defRPr sz="1700" b="0">
                <a:solidFill>
                  <a:srgbClr val="24384A"/>
                </a:solidFill>
                <a:latin typeface="Aptos"/>
              </a:defRPr>
            </a:pPr>
            <a:r>
              <a:t>risks, dependencies, and rollback.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776472"/>
            <a:ext cx="548640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3886200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007F82"/>
                </a:solidFill>
                <a:latin typeface="Aptos"/>
              </a:defRPr>
            </a:pPr>
            <a:r>
              <a:t>Keep people accountable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270248"/>
            <a:ext cx="512064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84A"/>
                </a:solidFill>
                <a:latin typeface="Aptos"/>
              </a:defRPr>
            </a:pPr>
            <a:r>
              <a:t>People set direction, validate outputs,</a:t>
            </a:r>
          </a:p>
          <a:p>
            <a:pPr>
              <a:spcAft>
                <a:spcPts val="700"/>
              </a:spcAft>
              <a:defRPr sz="1700" b="0">
                <a:solidFill>
                  <a:srgbClr val="24384A"/>
                </a:solidFill>
                <a:latin typeface="Aptos"/>
              </a:defRPr>
            </a:pPr>
            <a:r>
              <a:t>and approve progression.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376672"/>
            <a:ext cx="11155680" cy="530352"/>
          </a:xfrm>
          <a:prstGeom prst="roundRect">
            <a:avLst>
              <a:gd name="adj" fmla="val 6000"/>
            </a:avLst>
          </a:prstGeom>
          <a:solidFill>
            <a:srgbClr val="15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486400"/>
            <a:ext cx="1069848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FFFFFF"/>
                </a:solidFill>
                <a:latin typeface="Aptos"/>
              </a:defRPr>
            </a:pPr>
            <a:r>
              <a:t>AI drafts and analyses. People validate and decide.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6984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F82"/>
                </a:solidFill>
                <a:latin typeface="Aptos"/>
              </a:defRPr>
            </a:pPr>
            <a:r>
              <a:t>AGENTIC SDLC  /  OPERATING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09960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152D45"/>
                </a:solidFill>
                <a:latin typeface="Aptos"/>
              </a:defRPr>
            </a:pPr>
            <a:r>
              <a:t>From system evidence to an approved backlog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63040"/>
            <a:ext cx="1110996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526577"/>
                </a:solidFill>
                <a:latin typeface="Aptos"/>
              </a:defRPr>
            </a:pPr>
            <a:r>
              <a:t>Six specialist agents build on one another's outputs, connecting current-state understanding with incremental delivery.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90488"/>
            <a:ext cx="10789920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26577"/>
                </a:solidFill>
                <a:latin typeface="Aptos"/>
              </a:defRPr>
            </a:pPr>
            <a:r>
              <a:t>Next: programme governance, security assessment, and controlled implementation.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190488"/>
            <a:ext cx="457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007F8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423160"/>
            <a:ext cx="3566160" cy="3456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2606040"/>
            <a:ext cx="3236976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007F82"/>
                </a:solidFill>
                <a:latin typeface="Aptos"/>
              </a:defRPr>
            </a:pPr>
            <a:r>
              <a:t>1  Establish understanding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3154680"/>
            <a:ext cx="3236976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52D45"/>
                </a:solidFill>
                <a:latin typeface="Aptos"/>
              </a:defRPr>
            </a:pPr>
            <a:r>
              <a:t>01-discovery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575304"/>
            <a:ext cx="3236976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384A"/>
                </a:solidFill>
                <a:latin typeface="Aptos"/>
              </a:defRPr>
            </a:pPr>
            <a:r>
              <a:t>Inventory technology, components,</a:t>
            </a:r>
          </a:p>
          <a:p>
            <a:pPr>
              <a:spcAft>
                <a:spcPts val="700"/>
              </a:spcAft>
              <a:defRPr sz="1600" b="0">
                <a:solidFill>
                  <a:srgbClr val="24384A"/>
                </a:solidFill>
                <a:latin typeface="Aptos"/>
              </a:defRPr>
            </a:pPr>
            <a:r>
              <a:t>dependencies, and unknowns.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4370832"/>
            <a:ext cx="3236976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52D45"/>
                </a:solidFill>
                <a:latin typeface="Aptos"/>
              </a:defRPr>
            </a:pPr>
            <a:r>
              <a:t>02-documentation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4782312"/>
            <a:ext cx="3236976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384A"/>
                </a:solidFill>
                <a:latin typeface="Aptos"/>
              </a:defRPr>
            </a:pPr>
            <a:r>
              <a:t>Explain the current architecture,</a:t>
            </a:r>
          </a:p>
          <a:p>
            <a:pPr>
              <a:spcAft>
                <a:spcPts val="700"/>
              </a:spcAft>
              <a:defRPr sz="1600" b="0">
                <a:solidFill>
                  <a:srgbClr val="24384A"/>
                </a:solidFill>
                <a:latin typeface="Aptos"/>
              </a:defRPr>
            </a:pPr>
            <a:r>
              <a:t>detailed design, and operations.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" y="5495544"/>
            <a:ext cx="3346704" cy="292608"/>
          </a:xfrm>
          <a:prstGeom prst="roundRect">
            <a:avLst>
              <a:gd name="adj" fmla="val 6000"/>
            </a:avLst>
          </a:prstGeom>
          <a:solidFill>
            <a:srgbClr val="E2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527548"/>
            <a:ext cx="32004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F82"/>
                </a:solidFill>
                <a:latin typeface="Aptos"/>
              </a:defRPr>
            </a:pPr>
            <a:r>
              <a:t>Validate evidence and resolve gaps.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05656" y="3968496"/>
            <a:ext cx="18288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007F82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2423160"/>
            <a:ext cx="3566160" cy="3456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62272" y="2606040"/>
            <a:ext cx="3236976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007F82"/>
                </a:solidFill>
                <a:latin typeface="Aptos"/>
              </a:defRPr>
            </a:pPr>
            <a:r>
              <a:t>2  Define direction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3154680"/>
            <a:ext cx="3236976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52D45"/>
                </a:solidFill>
                <a:latin typeface="Aptos"/>
              </a:defRPr>
            </a:pPr>
            <a:r>
              <a:t>03-domain-analysis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2" y="3575304"/>
            <a:ext cx="3236976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384A"/>
                </a:solidFill>
                <a:latin typeface="Aptos"/>
              </a:defRPr>
            </a:pPr>
            <a:r>
              <a:t>Identify business boundaries,</a:t>
            </a:r>
          </a:p>
          <a:p>
            <a:pPr>
              <a:spcAft>
                <a:spcPts val="700"/>
              </a:spcAft>
              <a:defRPr sz="1600" b="0">
                <a:solidFill>
                  <a:srgbClr val="24384A"/>
                </a:solidFill>
                <a:latin typeface="Aptos"/>
              </a:defRPr>
            </a:pPr>
            <a:r>
              <a:t>data ownership, and separation points.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2272" y="4370832"/>
            <a:ext cx="3236976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52D45"/>
                </a:solidFill>
                <a:latin typeface="Aptos"/>
              </a:defRPr>
            </a:pPr>
            <a:r>
              <a:t>04-modernisation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62272" y="4782312"/>
            <a:ext cx="3236976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384A"/>
                </a:solidFill>
                <a:latin typeface="Aptos"/>
              </a:defRPr>
            </a:pPr>
            <a:r>
              <a:t>Propose target architecture and</a:t>
            </a:r>
          </a:p>
          <a:p>
            <a:pPr>
              <a:spcAft>
                <a:spcPts val="700"/>
              </a:spcAft>
              <a:defRPr sz="1600" b="0">
                <a:solidFill>
                  <a:srgbClr val="24384A"/>
                </a:solidFill>
                <a:latin typeface="Aptos"/>
              </a:defRPr>
            </a:pPr>
            <a:r>
              <a:t>an incremental migration path.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07408" y="5495544"/>
            <a:ext cx="3346704" cy="292608"/>
          </a:xfrm>
          <a:prstGeom prst="roundRect">
            <a:avLst>
              <a:gd name="adj" fmla="val 6000"/>
            </a:avLst>
          </a:prstGeom>
          <a:solidFill>
            <a:srgbClr val="E2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5527548"/>
            <a:ext cx="32004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F82"/>
                </a:solidFill>
                <a:latin typeface="Aptos"/>
              </a:defRPr>
            </a:pPr>
            <a:r>
              <a:t>Approve boundaries and trade-offs.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0416" y="3968496"/>
            <a:ext cx="18288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007F82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2423160"/>
            <a:ext cx="3566160" cy="3456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57032" y="2606040"/>
            <a:ext cx="3236976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007F82"/>
                </a:solidFill>
                <a:latin typeface="Aptos"/>
              </a:defRPr>
            </a:pPr>
            <a:r>
              <a:t>3  Prepare delivery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7032" y="3154680"/>
            <a:ext cx="3236976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52D45"/>
                </a:solidFill>
                <a:latin typeface="Aptos"/>
              </a:defRPr>
            </a:pPr>
            <a:r>
              <a:t>05-testing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7032" y="3575304"/>
            <a:ext cx="3236976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384A"/>
                </a:solidFill>
                <a:latin typeface="Aptos"/>
              </a:defRPr>
            </a:pPr>
            <a:r>
              <a:t>Establish a test baseline and</a:t>
            </a:r>
          </a:p>
          <a:p>
            <a:pPr>
              <a:spcAft>
                <a:spcPts val="700"/>
              </a:spcAft>
              <a:defRPr sz="1600" b="0">
                <a:solidFill>
                  <a:srgbClr val="24384A"/>
                </a:solidFill>
                <a:latin typeface="Aptos"/>
              </a:defRPr>
            </a:pPr>
            <a:r>
              <a:t>automation to protect behaviour.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57032" y="4370832"/>
            <a:ext cx="3236976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52D45"/>
                </a:solidFill>
                <a:latin typeface="Aptos"/>
              </a:defRPr>
            </a:pPr>
            <a:r>
              <a:t>06-candidate-slices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57032" y="4782312"/>
            <a:ext cx="3236976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384A"/>
                </a:solidFill>
                <a:latin typeface="Aptos"/>
              </a:defRPr>
            </a:pPr>
            <a:r>
              <a:t>Rank bounded changes with scope,</a:t>
            </a:r>
          </a:p>
          <a:p>
            <a:pPr>
              <a:spcAft>
                <a:spcPts val="700"/>
              </a:spcAft>
              <a:defRPr sz="1600" b="0">
                <a:solidFill>
                  <a:srgbClr val="24384A"/>
                </a:solidFill>
                <a:latin typeface="Aptos"/>
              </a:defRPr>
            </a:pPr>
            <a:r>
              <a:t>acceptance criteria, risk, and rollback.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02168" y="5495544"/>
            <a:ext cx="3346704" cy="292608"/>
          </a:xfrm>
          <a:prstGeom prst="roundRect">
            <a:avLst>
              <a:gd name="adj" fmla="val 6000"/>
            </a:avLst>
          </a:prstGeom>
          <a:solidFill>
            <a:srgbClr val="E2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5320" y="5527548"/>
            <a:ext cx="32004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F82"/>
                </a:solidFill>
                <a:latin typeface="Aptos"/>
              </a:defRPr>
            </a:pPr>
            <a:r>
              <a:t>Judge tests; approve slice priorities.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6984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F82"/>
                </a:solidFill>
                <a:latin typeface="Aptos"/>
              </a:defRPr>
            </a:pPr>
            <a:r>
              <a:t>AGENTIC SDLC  /  OPERATING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09960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152D45"/>
                </a:solidFill>
                <a:latin typeface="Aptos"/>
              </a:defRPr>
            </a:pPr>
            <a:r>
              <a:t>Governance and security surround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63040"/>
            <a:ext cx="1110996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526577"/>
                </a:solidFill>
                <a:latin typeface="Aptos"/>
              </a:defRPr>
            </a:pPr>
            <a:r>
              <a:t>Three further specialists support programme control, security assessment, and bounded delivery—with human approval retained.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90488"/>
            <a:ext cx="10789920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26577"/>
                </a:solidFill>
                <a:latin typeface="Aptos"/>
              </a:defRPr>
            </a:pPr>
            <a:r>
              <a:t>Discuss: who owns each checkpoint, and what evidence is needed to proceed?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190488"/>
            <a:ext cx="457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007F8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423160"/>
            <a:ext cx="3566160" cy="26334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2606040"/>
            <a:ext cx="3236976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007F82"/>
                </a:solidFill>
                <a:latin typeface="Aptos"/>
              </a:defRPr>
            </a:pPr>
            <a:r>
              <a:t>PROGRAMME GOVERNANCE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3008376"/>
            <a:ext cx="3236976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52D45"/>
                </a:solidFill>
                <a:latin typeface="Aptos"/>
              </a:defRPr>
            </a:pPr>
            <a:r>
              <a:t>07-intelligent-migration-agent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575304"/>
            <a:ext cx="3236976" cy="868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84A"/>
                </a:solidFill>
                <a:latin typeface="Aptos"/>
              </a:defRPr>
            </a:pPr>
            <a:r>
              <a:t>Define the team model,</a:t>
            </a:r>
          </a:p>
          <a:p>
            <a:pPr>
              <a:spcAft>
                <a:spcPts val="700"/>
              </a:spcAft>
              <a:defRPr sz="1700" b="0">
                <a:solidFill>
                  <a:srgbClr val="24384A"/>
                </a:solidFill>
                <a:latin typeface="Aptos"/>
              </a:defRPr>
            </a:pPr>
            <a:r>
              <a:t>phased roadmap, risk controls,</a:t>
            </a:r>
          </a:p>
          <a:p>
            <a:pPr>
              <a:spcAft>
                <a:spcPts val="700"/>
              </a:spcAft>
              <a:defRPr sz="1700" b="0">
                <a:solidFill>
                  <a:srgbClr val="24384A"/>
                </a:solidFill>
                <a:latin typeface="Aptos"/>
              </a:defRPr>
            </a:pPr>
            <a:r>
              <a:t>and decision checkpoints.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4498848"/>
            <a:ext cx="3236976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26577"/>
                </a:solidFill>
                <a:latin typeface="Aptos"/>
              </a:defRPr>
            </a:pPr>
            <a:r>
              <a:t>Economic assumptions require</a:t>
            </a:r>
          </a:p>
          <a:p>
            <a:pPr>
              <a:spcAft>
                <a:spcPts val="700"/>
              </a:spcAft>
              <a:defRPr sz="1300" b="0">
                <a:solidFill>
                  <a:srgbClr val="526577"/>
                </a:solidFill>
                <a:latin typeface="Aptos"/>
              </a:defRPr>
            </a:pPr>
            <a:r>
              <a:t>human scrutiny—not promises.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423160"/>
            <a:ext cx="3566160" cy="26334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2272" y="2606040"/>
            <a:ext cx="3236976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007F82"/>
                </a:solidFill>
                <a:latin typeface="Aptos"/>
              </a:defRPr>
            </a:pPr>
            <a:r>
              <a:t>SECURITY ASSESSMENT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3008376"/>
            <a:ext cx="3236976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52D45"/>
                </a:solidFill>
                <a:latin typeface="Aptos"/>
              </a:defRPr>
            </a:pPr>
            <a:r>
              <a:t>08-security-agent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3575304"/>
            <a:ext cx="3236976" cy="868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84A"/>
                </a:solidFill>
                <a:latin typeface="Aptos"/>
              </a:defRPr>
            </a:pPr>
            <a:r>
              <a:t>Assess security controls and</a:t>
            </a:r>
          </a:p>
          <a:p>
            <a:pPr>
              <a:spcAft>
                <a:spcPts val="700"/>
              </a:spcAft>
              <a:defRPr sz="1700" b="0">
                <a:solidFill>
                  <a:srgbClr val="24384A"/>
                </a:solidFill>
                <a:latin typeface="Aptos"/>
              </a:defRPr>
            </a:pPr>
            <a:r>
              <a:t>available GitHub Advanced</a:t>
            </a:r>
          </a:p>
          <a:p>
            <a:pPr>
              <a:spcAft>
                <a:spcPts val="700"/>
              </a:spcAft>
              <a:defRPr sz="1700" b="0">
                <a:solidFill>
                  <a:srgbClr val="24384A"/>
                </a:solidFill>
                <a:latin typeface="Aptos"/>
              </a:defRPr>
            </a:pPr>
            <a:r>
              <a:t>Security signals.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4498848"/>
            <a:ext cx="3236976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26577"/>
                </a:solidFill>
                <a:latin typeface="Aptos"/>
              </a:defRPr>
            </a:pPr>
            <a:r>
              <a:t>Prioritise findings and</a:t>
            </a:r>
          </a:p>
          <a:p>
            <a:pPr>
              <a:spcAft>
                <a:spcPts val="700"/>
              </a:spcAft>
              <a:defRPr sz="1300" b="0">
                <a:solidFill>
                  <a:srgbClr val="526577"/>
                </a:solidFill>
                <a:latin typeface="Aptos"/>
              </a:defRPr>
            </a:pPr>
            <a:r>
              <a:t>remediation for review.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2423160"/>
            <a:ext cx="3566160" cy="26334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2" y="2606040"/>
            <a:ext cx="3236976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007F82"/>
                </a:solidFill>
                <a:latin typeface="Aptos"/>
              </a:defRPr>
            </a:pPr>
            <a:r>
              <a:t>BOUNDED IMPLEMENTATION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2" y="3008376"/>
            <a:ext cx="3236976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52D45"/>
                </a:solidFill>
                <a:latin typeface="Aptos"/>
              </a:defRPr>
            </a:pPr>
            <a:r>
              <a:t>09-implementation-agent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2" y="3575304"/>
            <a:ext cx="3236976" cy="868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84A"/>
                </a:solidFill>
                <a:latin typeface="Aptos"/>
              </a:defRPr>
            </a:pPr>
            <a:r>
              <a:t>Implement one approved slice</a:t>
            </a:r>
          </a:p>
          <a:p>
            <a:pPr>
              <a:spcAft>
                <a:spcPts val="700"/>
              </a:spcAft>
              <a:defRPr sz="1700" b="0">
                <a:solidFill>
                  <a:srgbClr val="24384A"/>
                </a:solidFill>
                <a:latin typeface="Aptos"/>
              </a:defRPr>
            </a:pPr>
            <a:r>
              <a:t>per pull request, with tests,</a:t>
            </a:r>
          </a:p>
          <a:p>
            <a:pPr>
              <a:spcAft>
                <a:spcPts val="700"/>
              </a:spcAft>
              <a:defRPr sz="1700" b="0">
                <a:solidFill>
                  <a:srgbClr val="24384A"/>
                </a:solidFill>
                <a:latin typeface="Aptos"/>
              </a:defRPr>
            </a:pPr>
            <a:r>
              <a:t>documentation, and rollback.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2" y="4498848"/>
            <a:ext cx="3236976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26577"/>
                </a:solidFill>
                <a:latin typeface="Aptos"/>
              </a:defRPr>
            </a:pPr>
            <a:r>
              <a:t>Stop if planning inputs are</a:t>
            </a:r>
          </a:p>
          <a:p>
            <a:pPr>
              <a:spcAft>
                <a:spcPts val="700"/>
              </a:spcAft>
              <a:defRPr sz="1300" b="0">
                <a:solidFill>
                  <a:srgbClr val="526577"/>
                </a:solidFill>
                <a:latin typeface="Aptos"/>
              </a:defRPr>
            </a:pPr>
            <a:r>
              <a:t>missing or contradictory.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285232"/>
            <a:ext cx="11155680" cy="621792"/>
          </a:xfrm>
          <a:prstGeom prst="roundRect">
            <a:avLst>
              <a:gd name="adj" fmla="val 6000"/>
            </a:avLst>
          </a:prstGeom>
          <a:solidFill>
            <a:srgbClr val="15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413248"/>
            <a:ext cx="1069848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Human authority: approve scope and architecture • assess risk • review before merge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SDLC — A coordinated operating model</dc:title>
  <dc:subject>Specialised AI assistance, practical engineering outcomes, and human oversight</dc:subject>
  <dc:creator>Agentic SDLC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